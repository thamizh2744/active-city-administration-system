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24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77240" y="1325880"/>
            <a:ext cx="704088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200" b="1">
                <a:solidFill>
                  <a:srgbClr val="F0F7FF"/>
                </a:solidFill>
                <a:latin typeface="Aptos"/>
              </a:rPr>
              <a:t>Active City
Administration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35808"/>
            <a:ext cx="6309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0">
                <a:solidFill>
                  <a:srgbClr val="F0F7FF"/>
                </a:solidFill>
                <a:latin typeface="Aptos"/>
              </a:rPr>
              <a:t>A Summer Internship / 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667512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C2F0FF"/>
                </a:solidFill>
                <a:latin typeface="Aptos"/>
              </a:rPr>
              <a:t>Submitted by: Thamizharasu S
B.Tech Information Technology  |  Department of Information Technology
University College of Engineering, BIT Campus
Anna University, Tiruchirappalli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15000"/>
            <a:ext cx="1874519" cy="34747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000" b="1">
                <a:solidFill>
                  <a:srgbClr val="00D2FF"/>
                </a:solidFill>
                <a:latin typeface="Aptos"/>
              </a:rPr>
              <a:t>CITIZEN-CENTRED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5715000"/>
            <a:ext cx="1691640" cy="34747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000" b="1">
                <a:solidFill>
                  <a:srgbClr val="00D2FF"/>
                </a:solidFill>
                <a:latin typeface="Aptos"/>
              </a:rPr>
              <a:t>TRANSPARENT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5715000"/>
            <a:ext cx="1508760" cy="34747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000" b="1">
                <a:solidFill>
                  <a:srgbClr val="00D2FF"/>
                </a:solidFill>
                <a:latin typeface="Aptos"/>
              </a:rPr>
              <a:t>TRACKABLE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A5779D-7651-57B3-B31A-4C86E10DA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953" y="700839"/>
            <a:ext cx="6845968" cy="3413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389120" cy="256032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000" b="1">
                <a:solidFill>
                  <a:srgbClr val="91A4BC"/>
                </a:solidFill>
                <a:latin typeface="Aptos"/>
              </a:rPr>
              <a:t>INTERNSHIP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2700" b="1">
                <a:solidFill>
                  <a:srgbClr val="F0F7FF"/>
                </a:solidFill>
                <a:latin typeface="Aptos"/>
              </a:rPr>
              <a:t>About Fantasy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solidFill>
            <a:srgbClr val="0A111F"/>
          </a:solidFill>
        </p:spPr>
        <p:txBody>
          <a:bodyPr wrap="square" lIns="45720" tIns="36576" rIns="45720" bIns="36576">
            <a:spAutoFit/>
          </a:bodyPr>
          <a:lstStyle/>
          <a:p>
            <a:r>
              <a:rPr sz="1200" b="0" dirty="0">
                <a:solidFill>
                  <a:srgbClr val="C2F0FF"/>
                </a:solidFill>
                <a:latin typeface="Aptos"/>
              </a:rPr>
              <a:t>IT solutions and training provider where the internship was undertaken.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13716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" cy="13716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4846320" cy="292608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COMPANY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4846320" cy="804672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Fantasy Solution is based at No. 16, Samnath Plazza, Third Floor, near BG Naidu Sweets, Melapudur, Trichy – 620001.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13716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64008" cy="13716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4846320" cy="292608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CORE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13432"/>
            <a:ext cx="4846320" cy="804672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Software development, web design, web hosting, real-time projects and IT training.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5212080" cy="13716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520440"/>
            <a:ext cx="64008" cy="13716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639312"/>
            <a:ext cx="4846320" cy="292608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TECHNOLOGY 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005072"/>
            <a:ext cx="4846320" cy="804672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.NET, PHP, Java, Android applications, MATLAB image processing, NS2, data mining, R and Python.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212080" cy="13716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64008" cy="13716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639312"/>
            <a:ext cx="4846320" cy="292608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MISSION &amp;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05072"/>
            <a:ext cx="4846320" cy="804672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Mission: deliver quality software, secure access to information and value for customers. Vision: provide strong consulting and business solutions.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10698480" cy="59436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Internship connection: the organization’s web development and training activities provided the context for studying website design, responsiveness, usability, security and database connectivity.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0F7FF"/>
                </a:solidFill>
                <a:latin typeface="Aptos"/>
              </a:rPr>
              <a:t>Making city services easier to access and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00D2FF"/>
                </a:solidFill>
                <a:latin typeface="Aptos"/>
              </a:rPr>
              <a:t>A centralized platform concept for citizen requests, municipal action and transparent status updates.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74720" cy="214884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214884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020824"/>
            <a:ext cx="31272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00D2FF"/>
                </a:solidFill>
                <a:latin typeface="Aptos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95727"/>
            <a:ext cx="3127248" cy="1527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F0F7FF"/>
                </a:solidFill>
                <a:latin typeface="Aptos"/>
              </a:rPr>
              <a:t>Manual or disconnected processes can cause delays, paperwork, limited visibility and difficult complaint follow-up.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474720" cy="214884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64008" cy="214884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20824"/>
            <a:ext cx="31272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00D2FF"/>
                </a:solidFill>
                <a:latin typeface="Aptos"/>
              </a:rPr>
              <a:t>THE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95727"/>
            <a:ext cx="3127248" cy="1527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00D2FF"/>
                </a:solidFill>
                <a:latin typeface="Aptos"/>
              </a:rPr>
              <a:t>Bring complaint reporting, service requests, assignment and status tracking into one web-based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74720" cy="214884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64008" cy="214884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020824"/>
            <a:ext cx="31272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00D2FF"/>
                </a:solidFill>
                <a:latin typeface="Aptos"/>
              </a:rPr>
              <a:t>THE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7"/>
            <a:ext cx="3127248" cy="1527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00D2FF"/>
                </a:solidFill>
                <a:latin typeface="Aptos"/>
              </a:rPr>
              <a:t>Help citizens understand progress while giving administrators a structured way to coordinate responses.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1042416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C2F0FF"/>
                </a:solidFill>
                <a:latin typeface="Aptos"/>
              </a:rPr>
              <a:t>PROJECT 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424160" cy="777240"/>
          </a:xfrm>
          <a:prstGeom prst="rect">
            <a:avLst/>
          </a:prstGeom>
          <a:solidFill>
            <a:srgbClr val="0A111F"/>
          </a:solidFill>
        </p:spPr>
        <p:txBody>
          <a:bodyPr wrap="square" lIns="45720" rIns="45720">
            <a:spAutoFit/>
          </a:bodyPr>
          <a:lstStyle/>
          <a:p>
            <a:r>
              <a:rPr sz="2300" b="1" dirty="0">
                <a:solidFill>
                  <a:srgbClr val="F0F7FF"/>
                </a:solidFill>
                <a:latin typeface="Aptos"/>
              </a:rPr>
              <a:t>Create a clear digital workflow from citizen submission to responsible-team assignment, resolution and feedback.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 dirty="0">
                <a:solidFill>
                  <a:srgbClr val="91A4BC"/>
                </a:solidFill>
                <a:latin typeface="Aptos"/>
              </a:rPr>
              <a:t>02 • USERS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0F7FF"/>
                </a:solidFill>
                <a:latin typeface="Aptos"/>
              </a:rPr>
              <a:t>Designed around four key stakeholder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Each role has a distinct responsibility in the complaint and service lifecycle.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651760" cy="20574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20574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4"/>
            <a:ext cx="230428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00D2FF"/>
                </a:solidFill>
                <a:latin typeface="Aptos"/>
              </a:rPr>
              <a:t>CITIZEN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2304288" cy="14356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7FF"/>
                </a:solidFill>
                <a:latin typeface="Aptos"/>
              </a:rPr>
              <a:t>Register or log in, submit a complaint, attach details, track progress and provide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651760" cy="20574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828800"/>
            <a:ext cx="64008" cy="20574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1975104"/>
            <a:ext cx="230428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00D2FF"/>
                </a:solidFill>
                <a:latin typeface="Aptos"/>
              </a:rPr>
              <a:t>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350008"/>
            <a:ext cx="2304288" cy="14356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7FF"/>
                </a:solidFill>
                <a:latin typeface="Aptos"/>
              </a:rPr>
              <a:t>Review submissions, categorize issues, assign work and monitor service progress.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2651760" cy="20574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828800"/>
            <a:ext cx="64008" cy="20574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1975104"/>
            <a:ext cx="230428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00D2FF"/>
                </a:solidFill>
                <a:latin typeface="Aptos"/>
              </a:rPr>
              <a:t>MUNICIPAL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350008"/>
            <a:ext cx="2304288" cy="14356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7FF"/>
                </a:solidFill>
                <a:latin typeface="Aptos"/>
              </a:rPr>
              <a:t>Receive assigned cases, update action status and report resolution.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828800"/>
            <a:ext cx="2377440" cy="20574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1828800"/>
            <a:ext cx="64008" cy="20574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5168" y="1975104"/>
            <a:ext cx="202996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1">
                <a:solidFill>
                  <a:srgbClr val="00D2FF"/>
                </a:solidFill>
                <a:latin typeface="Aptos"/>
              </a:rPr>
              <a:t>NGO / AGENCY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2350008"/>
            <a:ext cx="2029968" cy="14356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7FF"/>
                </a:solidFill>
                <a:latin typeface="Aptos"/>
              </a:rPr>
              <a:t>Support eligible community issues and coordinate service-related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C2F0FF"/>
                </a:solidFill>
                <a:latin typeface="Aptos"/>
              </a:rPr>
              <a:t>CORE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10607040" cy="114300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23041"/>
                </a:solidFill>
                <a:latin typeface="Aptos"/>
              </a:defRPr>
            </a:pPr>
            <a:r>
              <a:rPr>
                <a:solidFill>
                  <a:srgbClr val="F0F7FF"/>
                </a:solidFill>
              </a:rPr>
              <a:t>Citizen registration and secure login</a:t>
            </a:r>
          </a:p>
          <a:p>
            <a:pPr>
              <a:spcAft>
                <a:spcPts val="500"/>
              </a:spcAft>
              <a:defRPr sz="1400">
                <a:solidFill>
                  <a:srgbClr val="223041"/>
                </a:solidFill>
                <a:latin typeface="Aptos"/>
              </a:defRPr>
            </a:pPr>
            <a:r>
              <a:rPr>
                <a:solidFill>
                  <a:srgbClr val="F0F7FF"/>
                </a:solidFill>
              </a:rPr>
              <a:t>Complaint submission with category and location</a:t>
            </a:r>
          </a:p>
          <a:p>
            <a:pPr>
              <a:spcAft>
                <a:spcPts val="500"/>
              </a:spcAft>
              <a:defRPr sz="1400">
                <a:solidFill>
                  <a:srgbClr val="223041"/>
                </a:solidFill>
                <a:latin typeface="Aptos"/>
              </a:defRPr>
            </a:pPr>
            <a:r>
              <a:rPr>
                <a:solidFill>
                  <a:srgbClr val="F0F7FF"/>
                </a:solidFill>
              </a:rPr>
              <a:t>Assignment, status updates, notifications, reports and feedback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91A4BC"/>
                </a:solidFill>
                <a:latin typeface="Aptos"/>
              </a:rPr>
              <a:t>03 • 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0F7FF"/>
                </a:solidFill>
                <a:latin typeface="Aptos"/>
              </a:rPr>
              <a:t>From fragmented follow-up to a traceable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The proposed system centralizes information and makes each case easier to monitor.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8696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91A4BC"/>
                </a:solidFill>
                <a:latin typeface="Aptos"/>
              </a:rPr>
              <a:t>ACTIVE CITY ADMINISTRATION SYSTEM  •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00D2FF"/>
                </a:solidFill>
                <a:latin typeface="Aptos"/>
              </a:rPr>
              <a:t>COMMON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00D2FF"/>
                </a:solidFill>
                <a:latin typeface="Aptos"/>
              </a:rPr>
              <a:t>PROPOSED SYSTEM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4892040" cy="59436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64008" cy="59436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524736"/>
            <a:ext cx="4544568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dirty="0">
                <a:solidFill>
                  <a:srgbClr val="C2F0FF"/>
                </a:solidFill>
                <a:latin typeface="Aptos"/>
              </a:rPr>
              <a:t>Requests handled across separate channels</a:t>
            </a:r>
          </a:p>
          <a:p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400800" y="2418588"/>
            <a:ext cx="4892040" cy="59436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331720"/>
            <a:ext cx="64008" cy="59436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2478024"/>
            <a:ext cx="4544568" cy="9233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dirty="0">
                <a:solidFill>
                  <a:srgbClr val="C2F0FF"/>
                </a:solidFill>
                <a:latin typeface="Aptos"/>
              </a:rPr>
              <a:t>Central complaint and service-request records</a:t>
            </a:r>
          </a:p>
          <a:p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715000" y="2441448"/>
            <a:ext cx="457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>
                <a:solidFill>
                  <a:srgbClr val="F0F7FF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08960"/>
            <a:ext cx="4892040" cy="59436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108960"/>
            <a:ext cx="64008" cy="59436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255264"/>
            <a:ext cx="4544568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dirty="0">
                <a:solidFill>
                  <a:srgbClr val="00D2FF"/>
                </a:solidFill>
                <a:latin typeface="Aptos"/>
              </a:rPr>
              <a:t>Citizens must repeatedly ask for updates</a:t>
            </a:r>
          </a:p>
          <a:p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6400800" y="3108960"/>
            <a:ext cx="4892040" cy="59436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108960"/>
            <a:ext cx="64008" cy="59436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255264"/>
            <a:ext cx="4544568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dirty="0">
                <a:solidFill>
                  <a:srgbClr val="00D2FF"/>
                </a:solidFill>
                <a:latin typeface="Aptos"/>
              </a:rPr>
              <a:t>Status tracking and update notifications</a:t>
            </a:r>
          </a:p>
          <a:p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5715000" y="3218688"/>
            <a:ext cx="457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>
                <a:solidFill>
                  <a:srgbClr val="F0F7FF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86200"/>
            <a:ext cx="4892040" cy="59436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3886200"/>
            <a:ext cx="64008" cy="59436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4032504"/>
            <a:ext cx="4544568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dirty="0">
                <a:solidFill>
                  <a:srgbClr val="C2F0FF"/>
                </a:solidFill>
                <a:latin typeface="Aptos"/>
              </a:rPr>
              <a:t>Unclear ownership after submission</a:t>
            </a:r>
          </a:p>
          <a:p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6400800" y="3886200"/>
            <a:ext cx="4892040" cy="59436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3886200"/>
            <a:ext cx="64008" cy="59436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01968" y="4032504"/>
            <a:ext cx="4544568" cy="9233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dirty="0">
                <a:solidFill>
                  <a:srgbClr val="00D2FF"/>
                </a:solidFill>
                <a:latin typeface="Aptos"/>
              </a:rPr>
              <a:t>Administrator assignment to responsible teams</a:t>
            </a:r>
          </a:p>
          <a:p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5715000" y="3995928"/>
            <a:ext cx="457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>
                <a:solidFill>
                  <a:srgbClr val="F0F7FF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663440"/>
            <a:ext cx="4892040" cy="59436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" y="4663440"/>
            <a:ext cx="64008" cy="59436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" y="4809744"/>
            <a:ext cx="4544568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dirty="0">
                <a:solidFill>
                  <a:srgbClr val="C2F0FF"/>
                </a:solidFill>
                <a:latin typeface="Aptos"/>
              </a:rPr>
              <a:t>Difficult to summarize recurring issues</a:t>
            </a:r>
          </a:p>
          <a:p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6400800" y="4663440"/>
            <a:ext cx="4892040" cy="59436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0" y="4663440"/>
            <a:ext cx="64008" cy="59436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01968" y="4809744"/>
            <a:ext cx="4544568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dirty="0">
                <a:solidFill>
                  <a:srgbClr val="C2F0FF"/>
                </a:solidFill>
                <a:latin typeface="Aptos"/>
              </a:rPr>
              <a:t>Dashboard views and report generation</a:t>
            </a:r>
          </a:p>
          <a:p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5715000" y="4773168"/>
            <a:ext cx="457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>
                <a:solidFill>
                  <a:srgbClr val="F0F7FF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91A4BC"/>
                </a:solidFill>
                <a:latin typeface="Aptos"/>
              </a:rPr>
              <a:t>04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0F7FF"/>
                </a:solidFill>
                <a:latin typeface="Aptos"/>
              </a:rPr>
              <a:t>A modular web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Proposed implementation stack: MERN with REST APIs and role-based authentication.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8696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91A4BC"/>
                </a:solidFill>
                <a:latin typeface="Aptos"/>
              </a:rPr>
              <a:t>ACTIVE CITY ADMINISTRATION SYSTEM  •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828800"/>
            <a:ext cx="9966960" cy="71323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938528"/>
            <a:ext cx="23774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00D2FF"/>
                </a:solidFill>
                <a:latin typeface="Aptos"/>
              </a:rP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38528"/>
            <a:ext cx="70408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00D2FF"/>
                </a:solidFill>
                <a:latin typeface="Aptos"/>
              </a:rPr>
              <a:t>React.js responsive interface  •  citizen portal  •  admin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880360"/>
            <a:ext cx="9966960" cy="71323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2990088"/>
            <a:ext cx="23774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00D2FF"/>
                </a:solidFill>
                <a:latin typeface="Aptos"/>
              </a:rP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90088"/>
            <a:ext cx="70408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7FF"/>
                </a:solidFill>
                <a:latin typeface="Aptos"/>
              </a:rPr>
              <a:t>Node.js + Express.js  •  REST APIs  •  validation  •  JWT / role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931920"/>
            <a:ext cx="9966960" cy="71323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041648"/>
            <a:ext cx="23774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00D2FF"/>
                </a:solidFill>
                <a:latin typeface="Aptos"/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41648"/>
            <a:ext cx="70408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7FF"/>
                </a:solidFill>
                <a:latin typeface="Aptos"/>
              </a:rPr>
              <a:t>MongoDB collections  •  users  •  complaints  •  categories  •  assignments  • 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7860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91A4BC"/>
                </a:solidFill>
                <a:latin typeface="Aptos"/>
              </a:rPr>
              <a:t>↓ API 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63016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91A4BC"/>
                </a:solidFill>
                <a:latin typeface="Aptos"/>
              </a:rPr>
              <a:t>↓ CRUD 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74920"/>
            <a:ext cx="98755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0D2FF"/>
                </a:solidFill>
                <a:latin typeface="Aptos"/>
              </a:rPr>
              <a:t>Security foundation: authentication • role-based access • input validation • controlled status changes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00D2FF"/>
                </a:solidFill>
                <a:latin typeface="Aptos"/>
              </a:rPr>
              <a:t>05 •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0F7FF"/>
                </a:solidFill>
                <a:latin typeface="Aptos"/>
              </a:rPr>
              <a:t>A complaint moves through clear, accountable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00D2FF"/>
                </a:solidFill>
                <a:latin typeface="Aptos"/>
              </a:rPr>
              <a:t>A simple flow helps citizens understand what happens after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8696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91A4BC"/>
                </a:solidFill>
                <a:latin typeface="Aptos"/>
              </a:rPr>
              <a:t>ACTIVE CITY ADMINISTRATION SYSTEM  •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1078992" y="2057400"/>
            <a:ext cx="566928" cy="566928"/>
          </a:xfrm>
          <a:prstGeom prst="ellipse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D2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76272"/>
            <a:ext cx="9601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0F7FF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D2FF"/>
                </a:solidFill>
                <a:latin typeface="Aptos"/>
              </a:rPr>
              <a:t>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200400"/>
            <a:ext cx="19659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00D2FF"/>
                </a:solidFill>
                <a:latin typeface="Aptos"/>
              </a:rPr>
              <a:t>Citizen enters details, category and location.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3438144" y="2057400"/>
            <a:ext cx="566928" cy="566928"/>
          </a:xfrm>
          <a:prstGeom prst="ellipse">
            <a:avLst/>
          </a:prstGeom>
          <a:solidFill>
            <a:srgbClr val="1B2A4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D2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2176272"/>
            <a:ext cx="9601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0F7FF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D2FF"/>
                </a:solidFill>
                <a:latin typeface="Aptos"/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00400"/>
            <a:ext cx="19659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00D2FF"/>
                </a:solidFill>
                <a:latin typeface="Aptos"/>
              </a:rPr>
              <a:t>Administrator checks and categorizes the request.</a:t>
            </a:r>
          </a:p>
        </p:txBody>
      </p:sp>
      <p:sp>
        <p:nvSpPr>
          <p:cNvPr id="16" name="Oval 15"/>
          <p:cNvSpPr/>
          <p:nvPr/>
        </p:nvSpPr>
        <p:spPr>
          <a:xfrm>
            <a:off x="5797296" y="2057400"/>
            <a:ext cx="566928" cy="566928"/>
          </a:xfrm>
          <a:prstGeom prst="ellipse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D2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176272"/>
            <a:ext cx="9601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0F7FF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D2FF"/>
                </a:solidFill>
                <a:latin typeface="Aptos"/>
              </a:rPr>
              <a:t>ASSIGN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3200400"/>
            <a:ext cx="19659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C2F0FF"/>
                </a:solidFill>
                <a:latin typeface="Aptos"/>
              </a:rPr>
              <a:t>Case is routed to the relevant municipal team or agency.</a:t>
            </a:r>
          </a:p>
        </p:txBody>
      </p:sp>
      <p:sp>
        <p:nvSpPr>
          <p:cNvPr id="20" name="Oval 19"/>
          <p:cNvSpPr/>
          <p:nvPr/>
        </p:nvSpPr>
        <p:spPr>
          <a:xfrm>
            <a:off x="8156448" y="2057400"/>
            <a:ext cx="566928" cy="566928"/>
          </a:xfrm>
          <a:prstGeom prst="ellipse">
            <a:avLst/>
          </a:prstGeom>
          <a:solidFill>
            <a:srgbClr val="1B2A4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D2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2176272"/>
            <a:ext cx="9601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0F7FF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6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D2FF"/>
                </a:solidFill>
                <a:latin typeface="Aptos"/>
              </a:rPr>
              <a:t>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4" y="3200400"/>
            <a:ext cx="19659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C2F0FF"/>
                </a:solidFill>
                <a:latin typeface="Aptos"/>
              </a:rPr>
              <a:t>Responsible team records progress and action taken.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0" y="2057400"/>
            <a:ext cx="566928" cy="566928"/>
          </a:xfrm>
          <a:prstGeom prst="ellipse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D2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D2FF"/>
                </a:solidFill>
                <a:latin typeface="Aptos"/>
              </a:rPr>
              <a:t>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6376" y="3200400"/>
            <a:ext cx="19659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00D2FF"/>
                </a:solidFill>
                <a:latin typeface="Aptos"/>
              </a:rPr>
              <a:t>Resolution is recorded; citizen can review and give feedback.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4892040"/>
            <a:ext cx="10241280" cy="77724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0120" y="4892040"/>
            <a:ext cx="64008" cy="77724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61288" y="5038344"/>
            <a:ext cx="9893807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00D2FF"/>
                </a:solidFill>
                <a:latin typeface="Aptos"/>
              </a:rPr>
              <a:t>STATUS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5413248"/>
            <a:ext cx="9893807" cy="1554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F0F7FF"/>
                </a:solidFill>
                <a:latin typeface="Aptos"/>
              </a:rPr>
              <a:t>Submitted → Under Review → Assigned → In Progress → Resolved → Feedback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00D2FF"/>
                </a:solidFill>
                <a:latin typeface="Aptos"/>
              </a:rPr>
              <a:t>06 • FUNCTIONAL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0F7FF"/>
                </a:solidFill>
                <a:latin typeface="Aptos"/>
              </a:rPr>
              <a:t>Six modules organize the main system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00D2FF"/>
                </a:solidFill>
                <a:latin typeface="Aptos"/>
              </a:rPr>
              <a:t>Modules can be developed and tested independently, then integrated into the full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8696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91A4BC"/>
                </a:solidFill>
                <a:latin typeface="Aptos"/>
              </a:rPr>
              <a:t>ACTIVE CITY ADMINISTRATION SYSTEM  •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4720" cy="141732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141732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31272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User &amp;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0008"/>
            <a:ext cx="3127248" cy="7955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Registration, login, role-based permissions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474720" cy="141732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64008" cy="141732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1975104"/>
            <a:ext cx="31272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Complaint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350008"/>
            <a:ext cx="3127248" cy="7955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Create, categorize, view and track complaints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474720" cy="141732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141732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67928" y="1975104"/>
            <a:ext cx="31272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350008"/>
            <a:ext cx="3127248" cy="7955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Allocate cases to municipal teams or agencies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474720" cy="141732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64008" cy="141732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849624"/>
            <a:ext cx="31272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Service Requests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224528"/>
            <a:ext cx="3127248" cy="7955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Record requests and manage service progress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703320"/>
            <a:ext cx="3474720" cy="141732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26280" y="3703320"/>
            <a:ext cx="64008" cy="141732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7448" y="3849624"/>
            <a:ext cx="31272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Notifications &amp;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224528"/>
            <a:ext cx="3127248" cy="7955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Communicate status changes and 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703320"/>
            <a:ext cx="3474720" cy="141732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66760" y="3703320"/>
            <a:ext cx="64008" cy="141732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67928" y="3849624"/>
            <a:ext cx="31272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Reports &amp;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4224528"/>
            <a:ext cx="3127248" cy="7955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00D2FF"/>
                </a:solidFill>
                <a:latin typeface="Aptos"/>
              </a:rPr>
              <a:t>Summaries, monitoring and citizen feedback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91A4BC"/>
                </a:solidFill>
                <a:latin typeface="Aptos"/>
              </a:rPr>
              <a:t>07 • DATA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0F7FF"/>
                </a:solidFill>
                <a:latin typeface="Aptos"/>
              </a:rPr>
              <a:t>Core records connect people, complaints and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Illustrative data model and stack based on the project's previously defined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8696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91A4BC"/>
                </a:solidFill>
                <a:latin typeface="Aptos"/>
              </a:rPr>
              <a:t>ACTIVE CITY ADMINISTRATION SYSTEM  •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246120" cy="11430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1430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4"/>
            <a:ext cx="28986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2898648" cy="5212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userId • name • email • phone •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246120" cy="11430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64008" cy="11430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975104"/>
            <a:ext cx="28986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COMPLAINT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50008"/>
            <a:ext cx="2898648" cy="5212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complaintId • description • date •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246120" cy="114300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64008" cy="1143000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1975104"/>
            <a:ext cx="289864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ASSIGNMENT /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350008"/>
            <a:ext cx="2898648" cy="5212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assignee • action • timestamp • remarks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221992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0F7FF"/>
                </a:solidFill>
                <a:latin typeface="Aptos"/>
              </a:rPr>
              <a:t>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221992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0F7FF"/>
                </a:solidFill>
                <a:latin typeface="Aptos"/>
              </a:rPr>
              <a:t>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C2F0FF"/>
                </a:solidFill>
                <a:latin typeface="Aptos"/>
              </a:rPr>
              <a:t>TECHNOLOGY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60520"/>
            <a:ext cx="1115568" cy="34747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000" b="1">
                <a:solidFill>
                  <a:srgbClr val="91A4BC"/>
                </a:solidFill>
                <a:latin typeface="Aptos"/>
              </a:rPr>
              <a:t>React.js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57400" y="4160520"/>
            <a:ext cx="1115568" cy="34747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000" b="1">
                <a:solidFill>
                  <a:srgbClr val="91A4BC"/>
                </a:solidFill>
                <a:latin typeface="Aptos"/>
              </a:rPr>
              <a:t>Node.js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160520"/>
            <a:ext cx="1115568" cy="34747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000" b="1">
                <a:solidFill>
                  <a:srgbClr val="91A4BC"/>
                </a:solidFill>
                <a:latin typeface="Aptos"/>
              </a:rPr>
              <a:t>Express.js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160520"/>
            <a:ext cx="1115568" cy="34747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000" b="1">
                <a:solidFill>
                  <a:srgbClr val="91A4BC"/>
                </a:solidFill>
                <a:latin typeface="Aptos"/>
              </a:rPr>
              <a:t>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40480"/>
            <a:ext cx="4846320" cy="164592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23041"/>
                </a:solidFill>
                <a:latin typeface="Aptos"/>
              </a:defRPr>
            </a:pPr>
            <a:r>
              <a:rPr>
                <a:solidFill>
                  <a:srgbClr val="C2F0FF"/>
                </a:solidFill>
              </a:rPr>
              <a:t>REST APIs connect the UI and server</a:t>
            </a:r>
          </a:p>
          <a:p>
            <a:pPr>
              <a:spcAft>
                <a:spcPts val="700"/>
              </a:spcAft>
              <a:defRPr sz="1200">
                <a:solidFill>
                  <a:srgbClr val="223041"/>
                </a:solidFill>
                <a:latin typeface="Aptos"/>
              </a:defRPr>
            </a:pPr>
            <a:r>
              <a:rPr>
                <a:solidFill>
                  <a:srgbClr val="C2F0FF"/>
                </a:solidFill>
              </a:rPr>
              <a:t>JWT supports authenticated sessions</a:t>
            </a:r>
          </a:p>
          <a:p>
            <a:pPr>
              <a:spcAft>
                <a:spcPts val="700"/>
              </a:spcAft>
              <a:defRPr sz="1200">
                <a:solidFill>
                  <a:srgbClr val="223041"/>
                </a:solidFill>
                <a:latin typeface="Aptos"/>
              </a:defRPr>
            </a:pPr>
            <a:r>
              <a:rPr>
                <a:solidFill>
                  <a:srgbClr val="C2F0FF"/>
                </a:solidFill>
              </a:rPr>
              <a:t>Role-based checks restrict protected actions</a:t>
            </a:r>
          </a:p>
          <a:p>
            <a:pPr>
              <a:spcAft>
                <a:spcPts val="700"/>
              </a:spcAft>
              <a:defRPr sz="1200">
                <a:solidFill>
                  <a:srgbClr val="223041"/>
                </a:solidFill>
                <a:latin typeface="Aptos"/>
              </a:defRPr>
            </a:pPr>
            <a:r>
              <a:rPr>
                <a:solidFill>
                  <a:srgbClr val="C2F0FF"/>
                </a:solidFill>
              </a:rPr>
              <a:t>MongoDB stores users, complaints and updates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43891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91A4BC"/>
                </a:solidFill>
                <a:latin typeface="Aptos"/>
              </a:rPr>
              <a:t>08 • VALIDATION &amp;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700" b="1">
                <a:solidFill>
                  <a:srgbClr val="F0F7FF"/>
                </a:solidFill>
                <a:latin typeface="Aptos"/>
              </a:rPr>
              <a:t>Test the workflow, access rules and status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2F0FF"/>
                </a:solidFill>
                <a:latin typeface="Aptos"/>
              </a:rPr>
              <a:t>Use these checks during demonstration; replace with measured results if you have completed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8696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00" b="1">
                <a:solidFill>
                  <a:srgbClr val="91A4BC"/>
                </a:solidFill>
                <a:latin typeface="Aptos"/>
              </a:rPr>
              <a:t>ACTIVE CITY ADMINISTRATION SYSTEM  • 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212080" cy="98755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64008" cy="987552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29384"/>
            <a:ext cx="486460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00D2FF"/>
                </a:solidFill>
                <a:latin typeface="Aptos"/>
              </a:rPr>
              <a:t>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04288"/>
            <a:ext cx="486460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00D2FF"/>
                </a:solidFill>
                <a:latin typeface="Aptos"/>
              </a:rPr>
              <a:t>Can a citizen submit a complaint with required fields?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5212080" cy="98755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783080"/>
            <a:ext cx="64008" cy="987552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929384"/>
            <a:ext cx="486460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00D2FF"/>
                </a:solidFill>
                <a:latin typeface="Aptos"/>
              </a:rPr>
              <a:t>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304288"/>
            <a:ext cx="486460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C2F0FF"/>
                </a:solidFill>
                <a:latin typeface="Aptos"/>
              </a:rPr>
              <a:t>Can only authorized roles access protected actions?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81528"/>
            <a:ext cx="5212080" cy="98755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081528"/>
            <a:ext cx="64008" cy="987552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227832"/>
            <a:ext cx="486460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00D2FF"/>
                </a:solidFill>
                <a:latin typeface="Aptos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02736"/>
            <a:ext cx="486460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00D2FF"/>
                </a:solidFill>
                <a:latin typeface="Aptos"/>
              </a:rPr>
              <a:t>Can an administrator assign a case and update its status?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081528"/>
            <a:ext cx="5212080" cy="98755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3081528"/>
            <a:ext cx="64008" cy="987552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3227832"/>
            <a:ext cx="486460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00D2FF"/>
                </a:solidFill>
                <a:latin typeface="Aptos"/>
              </a:rPr>
              <a:t>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602736"/>
            <a:ext cx="486460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00D2FF"/>
                </a:solidFill>
                <a:latin typeface="Aptos"/>
              </a:rPr>
              <a:t>Can a citizen view the latest status of their own complaint?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79976"/>
            <a:ext cx="5212080" cy="98755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379976"/>
            <a:ext cx="64008" cy="987552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526280"/>
            <a:ext cx="486460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00D2FF"/>
                </a:solidFill>
                <a:latin typeface="Aptos"/>
              </a:rPr>
              <a:t>DATA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901184"/>
            <a:ext cx="486460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C2F0FF"/>
                </a:solidFill>
                <a:latin typeface="Aptos"/>
              </a:rPr>
              <a:t>Are missing fields and invalid inputs handled clearly?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379976"/>
            <a:ext cx="5212080" cy="987552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4379976"/>
            <a:ext cx="64008" cy="987552"/>
          </a:xfrm>
          <a:prstGeom prst="rect">
            <a:avLst/>
          </a:prstGeom>
          <a:solidFill>
            <a:srgbClr val="00D2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6248" y="4526280"/>
            <a:ext cx="4864608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00D2FF"/>
                </a:solidFill>
                <a:latin typeface="Aptos"/>
              </a:rPr>
              <a:t>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4901184"/>
            <a:ext cx="486460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C2F0FF"/>
                </a:solidFill>
                <a:latin typeface="Aptos"/>
              </a:rPr>
              <a:t>Do dashboard summaries reflect stored complaint records?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91A4BC"/>
                </a:solidFill>
                <a:latin typeface="Aptos"/>
              </a:rPr>
              <a:t>Review note: this slide lists validation criteria, not claimed test results.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91A4BC"/>
                </a:solidFill>
                <a:latin typeface="Aptos"/>
              </a:rPr>
              <a:t>09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73152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900" b="1">
                <a:solidFill>
                  <a:srgbClr val="F0F7FF"/>
                </a:solidFill>
                <a:latin typeface="Aptos"/>
              </a:rPr>
              <a:t>A more connected way to
manage city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63093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0">
                <a:solidFill>
                  <a:srgbClr val="F0F7FF"/>
                </a:solidFill>
                <a:latin typeface="Aptos"/>
              </a:rPr>
              <a:t>Active City Administration System brings citizen requests, case assignment, progress tracking and feedback into a single structured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143000"/>
            <a:ext cx="3749039" cy="4297680"/>
          </a:xfrm>
          <a:prstGeom prst="roundRect">
            <a:avLst/>
          </a:prstGeom>
          <a:solidFill>
            <a:srgbClr val="141F33"/>
          </a:solidFill>
          <a:ln>
            <a:solidFill>
              <a:srgbClr val="3D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9" y="150876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00D2FF"/>
                </a:solidFill>
                <a:latin typeface="Aptos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965960"/>
            <a:ext cx="2971800" cy="242316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C2F0FF"/>
                </a:solidFill>
              </a:rPr>
              <a:t>Centralized complaint handling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C2F0FF"/>
                </a:solidFill>
              </a:rPr>
              <a:t>Clear role-based responsibilities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C2F0FF"/>
                </a:solidFill>
              </a:rPr>
              <a:t>Visible status and accountability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C2F0FF"/>
                </a:solidFill>
              </a:rPr>
              <a:t>A foundation for data-driven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5943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F0F7FF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00D2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91A4B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1029</Words>
  <Application>Microsoft Office PowerPoint</Application>
  <PresentationFormat>Widescreen</PresentationFormat>
  <Paragraphs>173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Thamizharasu S</dc:creator>
  <cp:keywords/>
  <dc:description>generated using python-pptx</dc:description>
  <cp:lastModifiedBy>Thamizharasu S</cp:lastModifiedBy>
  <cp:revision>3</cp:revision>
  <dcterms:created xsi:type="dcterms:W3CDTF">2013-01-27T09:14:16Z</dcterms:created>
  <dcterms:modified xsi:type="dcterms:W3CDTF">2026-10-22T05:01:10Z</dcterms:modified>
  <cp:category/>
</cp:coreProperties>
</file>